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2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zhuanlan.zhihu.com/p/664132497" TargetMode="External"/><Relationship Id="rId1" Type="http://schemas.openxmlformats.org/officeDocument/2006/relationships/hyperlink" Target="http://www.i2nav.com/index/newListDetail_zw.do?newskind_id=13a8654e060c40c69e5f3d4c13069078&amp;newsinfo_id=40f3c65b158742c099ba3b600c983aa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/>
              <a:t>定位资料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/>
              <a:t>内部资料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7542" y="184651"/>
            <a:ext cx="10766258" cy="1044826"/>
          </a:xfrm>
        </p:spPr>
        <p:txBody>
          <a:bodyPr/>
          <a:p>
            <a:r>
              <a:rPr lang="zh-CN" altLang="en-US" sz="3600" b="1"/>
              <a:t>导远定位盒架构</a:t>
            </a:r>
            <a:endParaRPr lang="zh-CN" altLang="en-US" sz="3600" b="1"/>
          </a:p>
        </p:txBody>
      </p:sp>
      <p:sp>
        <p:nvSpPr>
          <p:cNvPr id="4" name="圆角矩形 3"/>
          <p:cNvSpPr/>
          <p:nvPr userDrawn="1"/>
        </p:nvSpPr>
        <p:spPr>
          <a:xfrm>
            <a:off x="942474" y="1258303"/>
            <a:ext cx="5463395" cy="2698656"/>
          </a:xfrm>
          <a:prstGeom prst="roundRect">
            <a:avLst/>
          </a:prstGeom>
          <a:noFill/>
          <a:ln w="25400" cap="flat" cmpd="sng" algn="ctr">
            <a:solidFill>
              <a:srgbClr val="70AD47">
                <a:alpha val="100000"/>
              </a:srgbClr>
            </a:solidFill>
            <a:prstDash val="dash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圆角矩形 4"/>
          <p:cNvSpPr/>
          <p:nvPr userDrawn="1"/>
        </p:nvSpPr>
        <p:spPr>
          <a:xfrm>
            <a:off x="942474" y="4885723"/>
            <a:ext cx="1624648" cy="83246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GNSS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3323080" y="4885723"/>
            <a:ext cx="1624648" cy="83246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IMU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5703686" y="4885723"/>
            <a:ext cx="1624648" cy="83246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车身数据</a:t>
            </a:r>
            <a:endParaRPr lang="zh-CN" altLang="en-US">
              <a:solidFill>
                <a:srgbClr val="000000"/>
              </a:solidFill>
            </a:endParaRPr>
          </a:p>
          <a:p>
            <a:pPr algn="ctr"/>
            <a:r>
              <a:rPr lang="en-US" altLang="zh-CN" sz="1600">
                <a:solidFill>
                  <a:srgbClr val="000000"/>
                </a:solidFill>
              </a:rPr>
              <a:t>(</a:t>
            </a:r>
            <a:r>
              <a:rPr lang="zh-CN" altLang="en-US" sz="1600">
                <a:solidFill>
                  <a:srgbClr val="000000"/>
                </a:solidFill>
              </a:rPr>
              <a:t>轮速</a:t>
            </a:r>
            <a:r>
              <a:rPr lang="en-US" altLang="zh-CN" sz="1600">
                <a:solidFill>
                  <a:srgbClr val="000000"/>
                </a:solidFill>
              </a:rPr>
              <a:t>/</a:t>
            </a:r>
            <a:r>
              <a:rPr lang="zh-CN" altLang="en-US" sz="1600">
                <a:solidFill>
                  <a:srgbClr val="000000"/>
                </a:solidFill>
              </a:rPr>
              <a:t>档位</a:t>
            </a:r>
            <a:r>
              <a:rPr lang="en-US" altLang="zh-CN" sz="1600">
                <a:solidFill>
                  <a:srgbClr val="000000"/>
                </a:solidFill>
              </a:rPr>
              <a:t>)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8" name="圆角矩形 7"/>
          <p:cNvSpPr/>
          <p:nvPr userDrawn="1"/>
        </p:nvSpPr>
        <p:spPr>
          <a:xfrm>
            <a:off x="1350211" y="2024881"/>
            <a:ext cx="1624648" cy="832464"/>
          </a:xfrm>
          <a:prstGeom prst="roundRect">
            <a:avLst/>
          </a:prstGeom>
          <a:solidFill>
            <a:srgbClr val="70AD47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RTK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 sz="1400">
                <a:solidFill>
                  <a:srgbClr val="000000"/>
                </a:solidFill>
              </a:rPr>
              <a:t>(</a:t>
            </a:r>
            <a:r>
              <a:rPr lang="zh-CN" altLang="en-US" sz="1400">
                <a:solidFill>
                  <a:srgbClr val="000000"/>
                </a:solidFill>
              </a:rPr>
              <a:t>实时差分定位</a:t>
            </a:r>
            <a:r>
              <a:rPr lang="en-US" altLang="zh-CN" sz="1400">
                <a:solidFill>
                  <a:srgbClr val="000000"/>
                </a:solidFill>
              </a:rPr>
              <a:t>)</a:t>
            </a:r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9" name="圆角矩形 8"/>
          <p:cNvSpPr/>
          <p:nvPr userDrawn="1"/>
        </p:nvSpPr>
        <p:spPr>
          <a:xfrm>
            <a:off x="4465053" y="2024915"/>
            <a:ext cx="1624648" cy="832464"/>
          </a:xfrm>
          <a:prstGeom prst="roundRect">
            <a:avLst/>
          </a:prstGeom>
          <a:solidFill>
            <a:srgbClr val="70AD47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400">
                <a:solidFill>
                  <a:srgbClr val="000000"/>
                </a:solidFill>
              </a:rPr>
              <a:t>融合定位</a:t>
            </a:r>
            <a:endParaRPr lang="zh-CN" altLang="en-US" sz="1400">
              <a:solidFill>
                <a:srgbClr val="000000"/>
              </a:solidFill>
            </a:endParaRPr>
          </a:p>
        </p:txBody>
      </p:sp>
      <p:cxnSp>
        <p:nvCxnSpPr>
          <p:cNvPr id="10" name="肘形连接符 9"/>
          <p:cNvCxnSpPr>
            <a:stCxn id="5" idx="0"/>
            <a:endCxn id="8" idx="2"/>
          </p:cNvCxnSpPr>
          <p:nvPr userDrawn="1"/>
        </p:nvCxnSpPr>
        <p:spPr>
          <a:xfrm rot="16200000">
            <a:off x="944880" y="3667760"/>
            <a:ext cx="2028190" cy="40767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6" idx="0"/>
            <a:endCxn id="9" idx="2"/>
          </p:cNvCxnSpPr>
          <p:nvPr userDrawn="1"/>
        </p:nvCxnSpPr>
        <p:spPr>
          <a:xfrm rot="16200000">
            <a:off x="3692843" y="3300413"/>
            <a:ext cx="2028190" cy="1142365"/>
          </a:xfrm>
          <a:prstGeom prst="bentConnector3">
            <a:avLst>
              <a:gd name="adj1" fmla="val 50016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0"/>
            <a:endCxn id="9" idx="2"/>
          </p:cNvCxnSpPr>
          <p:nvPr userDrawn="1"/>
        </p:nvCxnSpPr>
        <p:spPr>
          <a:xfrm rot="16200000" flipV="1">
            <a:off x="4883150" y="3252470"/>
            <a:ext cx="2028190" cy="123825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8" idx="3"/>
            <a:endCxn id="9" idx="1"/>
          </p:cNvCxnSpPr>
          <p:nvPr userDrawn="1"/>
        </p:nvCxnSpPr>
        <p:spPr>
          <a:xfrm>
            <a:off x="2974859" y="2441748"/>
            <a:ext cx="1490345" cy="0"/>
          </a:xfrm>
          <a:prstGeom prst="straightConnector1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 userDrawn="1"/>
        </p:nvSpPr>
        <p:spPr>
          <a:xfrm>
            <a:off x="8081211" y="2024915"/>
            <a:ext cx="1624648" cy="83246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1400">
                <a:solidFill>
                  <a:srgbClr val="000000"/>
                </a:solidFill>
              </a:rPr>
              <a:t>ADCU</a:t>
            </a:r>
            <a:endParaRPr lang="zh-CN" altLang="en-US" sz="1400">
              <a:solidFill>
                <a:srgbClr val="000000"/>
              </a:solidFill>
            </a:endParaRPr>
          </a:p>
        </p:txBody>
      </p:sp>
      <p:cxnSp>
        <p:nvCxnSpPr>
          <p:cNvPr id="15" name="直接箭头连接符 14"/>
          <p:cNvCxnSpPr>
            <a:stCxn id="9" idx="3"/>
            <a:endCxn id="14" idx="1"/>
          </p:cNvCxnSpPr>
          <p:nvPr userDrawn="1"/>
        </p:nvCxnSpPr>
        <p:spPr>
          <a:xfrm>
            <a:off x="6090336" y="2441782"/>
            <a:ext cx="1990725" cy="0"/>
          </a:xfrm>
          <a:prstGeom prst="straightConnector1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 userDrawn="1"/>
        </p:nvSpPr>
        <p:spPr>
          <a:xfrm>
            <a:off x="6426868" y="2163044"/>
            <a:ext cx="1654342" cy="278063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 sz="1200"/>
              <a:t>WGS84</a:t>
            </a:r>
            <a:r>
              <a:rPr lang="zh-CN" altLang="en-US" sz="1200"/>
              <a:t>坐标系</a:t>
            </a:r>
            <a:r>
              <a:rPr lang="en-US" altLang="zh-CN" sz="1200"/>
              <a:t>(</a:t>
            </a:r>
            <a:r>
              <a:rPr lang="zh-CN" altLang="en-US" sz="1200"/>
              <a:t>未加偏</a:t>
            </a:r>
            <a:r>
              <a:rPr lang="en-US" altLang="zh-CN" sz="1200"/>
              <a:t>)</a:t>
            </a:r>
            <a:endParaRPr lang="zh-CN" altLang="en-US" sz="120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6587289" y="2441107"/>
            <a:ext cx="1203158" cy="258011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1200"/>
              <a:t>INS/localization</a:t>
            </a:r>
            <a:endParaRPr lang="zh-CN" altLang="en-US" sz="120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060106" y="3672471"/>
            <a:ext cx="3669632" cy="1942432"/>
          </a:xfrm>
          <a:prstGeom prst="rect">
            <a:avLst/>
          </a:prstGeom>
          <a:ln w="25400" cmpd="sng">
            <a:solidFill>
              <a:srgbClr val="FF0000">
                <a:alpha val="100000"/>
              </a:srgbClr>
            </a:solidFill>
            <a:prstDash val="dash"/>
            <a:miter lim="800000"/>
          </a:ln>
        </p:spPr>
        <p:txBody>
          <a:bodyPr wrap="none" rtlCol="0">
            <a:noAutofit/>
          </a:bodyPr>
          <a:p>
            <a:r>
              <a:rPr lang="zh-CN" altLang="en-US" b="1"/>
              <a:t>优点：</a:t>
            </a:r>
            <a:endParaRPr lang="zh-CN" altLang="en-US" b="1"/>
          </a:p>
          <a:p>
            <a:pPr indent="0">
              <a:buNone/>
            </a:pPr>
            <a:r>
              <a:rPr lang="zh-CN" altLang="en-US" sz="1400"/>
              <a:t>  稳定，无定位跳变情况，可满足道路级定位</a:t>
            </a:r>
            <a:endParaRPr lang="zh-CN" altLang="en-US" sz="1400"/>
          </a:p>
          <a:p>
            <a:pPr indent="0">
              <a:buNone/>
            </a:pPr>
            <a:endParaRPr lang="zh-CN" altLang="en-US" sz="1400"/>
          </a:p>
          <a:p>
            <a:pPr indent="0">
              <a:buNone/>
            </a:pPr>
            <a:r>
              <a:rPr lang="zh-CN" altLang="en-US" b="1"/>
              <a:t>缺点：</a:t>
            </a:r>
            <a:endParaRPr lang="zh-CN" altLang="en-US" b="1"/>
          </a:p>
          <a:p>
            <a:pPr indent="0">
              <a:buNone/>
            </a:pPr>
            <a:r>
              <a:rPr lang="zh-CN" altLang="en-US" sz="1400"/>
              <a:t>  由于无地图和视觉支持，在隧道、高架下会</a:t>
            </a:r>
            <a:endParaRPr lang="zh-CN" altLang="en-US" sz="1400"/>
          </a:p>
          <a:p>
            <a:pPr indent="0">
              <a:buNone/>
            </a:pPr>
            <a:r>
              <a:rPr lang="zh-CN" altLang="en-US" sz="1400"/>
              <a:t>  随着长度偏差越来越大</a:t>
            </a:r>
            <a:endParaRPr lang="zh-CN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7542" y="184651"/>
            <a:ext cx="10766258" cy="1044826"/>
          </a:xfrm>
        </p:spPr>
        <p:txBody>
          <a:bodyPr/>
          <a:p>
            <a:r>
              <a:rPr lang="zh-CN" altLang="en-US" sz="3600" b="1">
                <a:solidFill>
                  <a:schemeClr val="tx1"/>
                </a:solidFill>
              </a:rPr>
              <a:t>朗歌高速</a:t>
            </a:r>
            <a:r>
              <a:rPr lang="en-US" altLang="zh-CN" sz="3600" b="1">
                <a:solidFill>
                  <a:schemeClr val="tx1"/>
                </a:solidFill>
              </a:rPr>
              <a:t>EHP</a:t>
            </a:r>
            <a:r>
              <a:rPr lang="zh-CN" altLang="en-US" sz="3600" b="1">
                <a:solidFill>
                  <a:schemeClr val="tx1"/>
                </a:solidFill>
              </a:rPr>
              <a:t>定位</a:t>
            </a:r>
            <a:r>
              <a:rPr lang="zh-CN" altLang="en-US" sz="3600" b="1"/>
              <a:t>架构</a:t>
            </a:r>
            <a:endParaRPr lang="zh-CN" altLang="en-US" sz="3600" b="1"/>
          </a:p>
        </p:txBody>
      </p:sp>
      <p:sp>
        <p:nvSpPr>
          <p:cNvPr id="5" name="圆角矩形 4"/>
          <p:cNvSpPr/>
          <p:nvPr userDrawn="1"/>
        </p:nvSpPr>
        <p:spPr>
          <a:xfrm>
            <a:off x="199650" y="4885723"/>
            <a:ext cx="1311267" cy="748766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INS/localization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9" name="圆角矩形 8"/>
          <p:cNvSpPr/>
          <p:nvPr userDrawn="1"/>
        </p:nvSpPr>
        <p:spPr>
          <a:xfrm>
            <a:off x="1754806" y="1835668"/>
            <a:ext cx="3324728" cy="1021832"/>
          </a:xfrm>
          <a:prstGeom prst="roundRect">
            <a:avLst/>
          </a:prstGeom>
          <a:solidFill>
            <a:srgbClr val="70AD47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400">
                <a:solidFill>
                  <a:srgbClr val="000000"/>
                </a:solidFill>
              </a:rPr>
              <a:t>融合定位</a:t>
            </a:r>
            <a:endParaRPr lang="zh-CN" altLang="en-US" sz="1400">
              <a:solidFill>
                <a:srgbClr val="000000"/>
              </a:solidFill>
            </a:endParaRPr>
          </a:p>
        </p:txBody>
      </p:sp>
      <p:cxnSp>
        <p:nvCxnSpPr>
          <p:cNvPr id="10" name="肘形连接符 9"/>
          <p:cNvCxnSpPr>
            <a:stCxn id="5" idx="0"/>
            <a:endCxn id="9" idx="2"/>
          </p:cNvCxnSpPr>
          <p:nvPr userDrawn="1"/>
        </p:nvCxnSpPr>
        <p:spPr>
          <a:xfrm rot="16200000">
            <a:off x="1122045" y="2590800"/>
            <a:ext cx="2028190" cy="256159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9" idx="3"/>
            <a:endCxn id="29" idx="1"/>
          </p:cNvCxnSpPr>
          <p:nvPr userDrawn="1"/>
        </p:nvCxnSpPr>
        <p:spPr>
          <a:xfrm>
            <a:off x="5079416" y="2347167"/>
            <a:ext cx="1865630" cy="0"/>
          </a:xfrm>
          <a:prstGeom prst="straightConnector1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 userDrawn="1"/>
        </p:nvSpPr>
        <p:spPr>
          <a:xfrm>
            <a:off x="5247110" y="2058519"/>
            <a:ext cx="1654342" cy="278063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 sz="1200" b="1"/>
              <a:t>GCJ02</a:t>
            </a:r>
            <a:r>
              <a:rPr lang="zh-CN" altLang="en-US" sz="1200" b="1"/>
              <a:t>坐标系</a:t>
            </a:r>
            <a:r>
              <a:rPr lang="en-US" altLang="zh-CN" sz="1200" b="1"/>
              <a:t>(</a:t>
            </a:r>
            <a:r>
              <a:rPr lang="zh-CN" altLang="en-US" sz="1200" b="1"/>
              <a:t>加偏</a:t>
            </a:r>
            <a:r>
              <a:rPr lang="en-US" altLang="zh-CN" sz="1200" b="1"/>
              <a:t>)</a:t>
            </a:r>
            <a:endParaRPr lang="zh-CN" altLang="en-US" sz="1200" b="1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060106" y="3672471"/>
            <a:ext cx="3920290" cy="1942432"/>
          </a:xfrm>
          <a:prstGeom prst="rect">
            <a:avLst/>
          </a:prstGeom>
          <a:ln w="25400" cmpd="sng">
            <a:solidFill>
              <a:srgbClr val="FF0000">
                <a:alpha val="100000"/>
              </a:srgbClr>
            </a:solidFill>
            <a:prstDash val="dash"/>
            <a:miter lim="800000"/>
          </a:ln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zh-CN" altLang="en-US" b="1" spc="-20"/>
              <a:t>优点：</a:t>
            </a:r>
            <a:endParaRPr lang="zh-CN" altLang="en-US" b="1" spc="-20"/>
          </a:p>
          <a:p>
            <a:pPr indent="0">
              <a:lnSpc>
                <a:spcPct val="90000"/>
              </a:lnSpc>
              <a:buNone/>
            </a:pPr>
            <a:r>
              <a:rPr lang="zh-CN" altLang="en-US" sz="1400" spc="-20"/>
              <a:t>  稳定，无定位跳变情况，基本满足高速车道级定位需求</a:t>
            </a:r>
            <a:endParaRPr lang="zh-CN" altLang="en-US" sz="1400" spc="-20"/>
          </a:p>
          <a:p>
            <a:pPr indent="0">
              <a:lnSpc>
                <a:spcPct val="90000"/>
              </a:lnSpc>
              <a:buNone/>
            </a:pPr>
            <a:endParaRPr lang="zh-CN" altLang="en-US" sz="1400" spc="-20"/>
          </a:p>
          <a:p>
            <a:pPr indent="0">
              <a:lnSpc>
                <a:spcPct val="90000"/>
              </a:lnSpc>
              <a:buNone/>
            </a:pPr>
            <a:r>
              <a:rPr lang="zh-CN" altLang="en-US" b="1" spc="-20"/>
              <a:t>缺点：</a:t>
            </a:r>
            <a:endParaRPr lang="zh-CN" altLang="en-US" b="1" spc="-20"/>
          </a:p>
          <a:p>
            <a:pPr marL="285750" indent="-285750">
              <a:lnSpc>
                <a:spcPct val="90000"/>
              </a:lnSpc>
              <a:buChar char="•"/>
            </a:pPr>
            <a:r>
              <a:rPr lang="zh-CN" altLang="en-US" sz="1400" spc="-20"/>
              <a:t>地图存在鲜度问题时，定位结果会被拉偏</a:t>
            </a:r>
            <a:endParaRPr lang="zh-CN" altLang="en-US" sz="1400" spc="-20"/>
          </a:p>
          <a:p>
            <a:pPr marL="285750" indent="-285750">
              <a:lnSpc>
                <a:spcPct val="90000"/>
              </a:lnSpc>
              <a:buChar char="•"/>
            </a:pPr>
            <a:r>
              <a:rPr lang="zh-CN" altLang="en-US" sz="1400" spc="-20"/>
              <a:t>通过验证，朗歌应该直接用的INS/localization结果+地图进行纠偏的，未对IMU和轮速数据进行二次纠偏</a:t>
            </a:r>
            <a:endParaRPr lang="zh-CN" altLang="en-US" sz="1400" spc="-20"/>
          </a:p>
        </p:txBody>
      </p:sp>
      <p:sp>
        <p:nvSpPr>
          <p:cNvPr id="17" name="圆角矩形 16"/>
          <p:cNvSpPr/>
          <p:nvPr userDrawn="1"/>
        </p:nvSpPr>
        <p:spPr>
          <a:xfrm>
            <a:off x="1831760" y="4905308"/>
            <a:ext cx="1263701" cy="72921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1600">
                <a:solidFill>
                  <a:srgbClr val="000000"/>
                </a:solidFill>
              </a:rPr>
              <a:t>IMU</a:t>
            </a:r>
            <a:endParaRPr sz="1600"/>
          </a:p>
        </p:txBody>
      </p:sp>
      <p:sp>
        <p:nvSpPr>
          <p:cNvPr id="21" name="圆角矩形 20"/>
          <p:cNvSpPr/>
          <p:nvPr userDrawn="1"/>
        </p:nvSpPr>
        <p:spPr>
          <a:xfrm>
            <a:off x="3463869" y="4905362"/>
            <a:ext cx="1263701" cy="72921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车身数据</a:t>
            </a:r>
            <a:endParaRPr lang="zh-CN" altLang="en-US" sz="1600">
              <a:solidFill>
                <a:srgbClr val="000000"/>
              </a:solidFill>
            </a:endParaRPr>
          </a:p>
          <a:p>
            <a:pPr algn="ctr"/>
            <a:r>
              <a:rPr lang="zh-CN" altLang="en-US" sz="1600">
                <a:solidFill>
                  <a:srgbClr val="000000"/>
                </a:solidFill>
              </a:rPr>
              <a:t>(轮速/档位)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22" name="圆角矩形 21"/>
          <p:cNvSpPr/>
          <p:nvPr userDrawn="1"/>
        </p:nvSpPr>
        <p:spPr>
          <a:xfrm>
            <a:off x="5095979" y="4905362"/>
            <a:ext cx="1263701" cy="72921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视觉</a:t>
            </a:r>
            <a:endParaRPr sz="1600"/>
          </a:p>
        </p:txBody>
      </p:sp>
      <p:sp>
        <p:nvSpPr>
          <p:cNvPr id="23" name="圆角矩形 22"/>
          <p:cNvSpPr/>
          <p:nvPr userDrawn="1"/>
        </p:nvSpPr>
        <p:spPr>
          <a:xfrm>
            <a:off x="6728088" y="4905362"/>
            <a:ext cx="1263701" cy="729214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地图</a:t>
            </a:r>
            <a:endParaRPr sz="1600"/>
          </a:p>
        </p:txBody>
      </p:sp>
      <p:cxnSp>
        <p:nvCxnSpPr>
          <p:cNvPr id="24" name="肘形连接符 23"/>
          <p:cNvCxnSpPr>
            <a:stCxn id="17" idx="0"/>
            <a:endCxn id="9" idx="2"/>
          </p:cNvCxnSpPr>
          <p:nvPr userDrawn="1"/>
        </p:nvCxnSpPr>
        <p:spPr>
          <a:xfrm rot="16200000">
            <a:off x="1916430" y="3404870"/>
            <a:ext cx="2047875" cy="953135"/>
          </a:xfrm>
          <a:prstGeom prst="bentConnector3">
            <a:avLst>
              <a:gd name="adj1" fmla="val 49984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21" idx="0"/>
            <a:endCxn id="9" idx="2"/>
          </p:cNvCxnSpPr>
          <p:nvPr userDrawn="1"/>
        </p:nvCxnSpPr>
        <p:spPr>
          <a:xfrm rot="16200000" flipV="1">
            <a:off x="2732405" y="3542030"/>
            <a:ext cx="2047875" cy="678815"/>
          </a:xfrm>
          <a:prstGeom prst="bentConnector3">
            <a:avLst>
              <a:gd name="adj1" fmla="val 49984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22" idx="0"/>
            <a:endCxn id="9" idx="2"/>
          </p:cNvCxnSpPr>
          <p:nvPr userDrawn="1"/>
        </p:nvCxnSpPr>
        <p:spPr>
          <a:xfrm rot="16200000" flipV="1">
            <a:off x="3548380" y="2726055"/>
            <a:ext cx="2047875" cy="2310765"/>
          </a:xfrm>
          <a:prstGeom prst="bentConnector3">
            <a:avLst>
              <a:gd name="adj1" fmla="val 49984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23" idx="0"/>
            <a:endCxn id="9" idx="2"/>
          </p:cNvCxnSpPr>
          <p:nvPr userDrawn="1"/>
        </p:nvCxnSpPr>
        <p:spPr>
          <a:xfrm rot="16200000" flipV="1">
            <a:off x="4364355" y="1910080"/>
            <a:ext cx="2047875" cy="3942715"/>
          </a:xfrm>
          <a:prstGeom prst="bentConnector3">
            <a:avLst>
              <a:gd name="adj1" fmla="val 49984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 userDrawn="1"/>
        </p:nvSpPr>
        <p:spPr>
          <a:xfrm>
            <a:off x="6945095" y="1835718"/>
            <a:ext cx="3324728" cy="1021832"/>
          </a:xfrm>
          <a:prstGeom prst="roundRect">
            <a:avLst/>
          </a:prstGeom>
          <a:solidFill>
            <a:srgbClr val="70AD47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400">
                <a:solidFill>
                  <a:srgbClr val="000000"/>
                </a:solidFill>
              </a:rPr>
              <a:t>朗歌</a:t>
            </a:r>
            <a:r>
              <a:rPr lang="en-US" altLang="zh-CN" sz="1400">
                <a:solidFill>
                  <a:srgbClr val="000000"/>
                </a:solidFill>
              </a:rPr>
              <a:t>EHP</a:t>
            </a:r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upload_post_object_v2_26626232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630" y="1320179"/>
            <a:ext cx="7510713" cy="5216979"/>
          </a:xfrm>
          <a:prstGeom prst="rect">
            <a:avLst/>
          </a:prstGeom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  <a:headEnd/>
            <a:tailEnd/>
          </a:ln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87542" y="184651"/>
            <a:ext cx="10766258" cy="1054852"/>
          </a:xfrm>
        </p:spPr>
        <p:txBody>
          <a:bodyPr/>
          <a:p>
            <a:r>
              <a:rPr lang="zh-CN" altLang="en-US" sz="3600" b="1">
                <a:solidFill>
                  <a:schemeClr val="tx1"/>
                </a:solidFill>
              </a:rPr>
              <a:t>朗歌</a:t>
            </a:r>
            <a:r>
              <a:rPr lang="en-US" altLang="zh-CN" sz="3600" b="1">
                <a:solidFill>
                  <a:schemeClr val="tx1"/>
                </a:solidFill>
              </a:rPr>
              <a:t>LG_API</a:t>
            </a:r>
            <a:r>
              <a:rPr lang="zh-CN" altLang="en-US" sz="3600" b="1">
                <a:solidFill>
                  <a:schemeClr val="tx1"/>
                </a:solidFill>
              </a:rPr>
              <a:t>定位</a:t>
            </a:r>
            <a:r>
              <a:rPr lang="zh-CN" altLang="en-US" sz="3600" b="1"/>
              <a:t>架构</a:t>
            </a:r>
            <a:endParaRPr lang="zh-CN" altLang="en-US" sz="3600" b="1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441106" y="4444497"/>
            <a:ext cx="3669632" cy="1942432"/>
          </a:xfrm>
          <a:prstGeom prst="rect">
            <a:avLst/>
          </a:prstGeom>
          <a:ln w="25400" cmpd="sng">
            <a:solidFill>
              <a:srgbClr val="FF0000">
                <a:alpha val="100000"/>
              </a:srgbClr>
            </a:solidFill>
            <a:prstDash val="dash"/>
            <a:miter lim="800000"/>
          </a:ln>
        </p:spPr>
        <p:txBody>
          <a:bodyPr wrap="square" rtlCol="0">
            <a:noAutofit/>
          </a:bodyPr>
          <a:p>
            <a:r>
              <a:rPr lang="zh-CN" altLang="en-US" b="1" spc="-40"/>
              <a:t>优点：</a:t>
            </a:r>
            <a:endParaRPr lang="zh-CN" altLang="en-US" b="1" spc="-40"/>
          </a:p>
          <a:p>
            <a:pPr indent="0">
              <a:buNone/>
            </a:pPr>
            <a:r>
              <a:rPr lang="zh-CN" altLang="en-US" sz="1400" spc="-40"/>
              <a:t>  朗歌以视觉为主的定位，弱化</a:t>
            </a:r>
            <a:r>
              <a:rPr lang="en-US" altLang="zh-CN" sz="1400" spc="-40"/>
              <a:t>RTK</a:t>
            </a:r>
            <a:r>
              <a:rPr lang="zh-CN" altLang="en-US" sz="1400" spc="-40"/>
              <a:t>作用</a:t>
            </a:r>
            <a:endParaRPr lang="zh-CN" altLang="en-US" sz="1400" spc="-40"/>
          </a:p>
          <a:p>
            <a:pPr indent="0">
              <a:buNone/>
            </a:pPr>
            <a:endParaRPr lang="zh-CN" altLang="en-US" sz="1400" spc="-40"/>
          </a:p>
          <a:p>
            <a:pPr indent="0">
              <a:buNone/>
            </a:pPr>
            <a:r>
              <a:rPr lang="zh-CN" altLang="en-US" b="1" spc="-40"/>
              <a:t>缺点：</a:t>
            </a:r>
            <a:endParaRPr lang="zh-CN" altLang="en-US" b="1" spc="-40"/>
          </a:p>
          <a:p>
            <a:pPr indent="0">
              <a:buNone/>
            </a:pPr>
            <a:r>
              <a:rPr lang="zh-CN" altLang="en-US" sz="1400" spc="-40"/>
              <a:t>  强依赖视觉，通过视觉匹配到实际车道中，所以强依赖地图数据的准确性，一旦出现视觉不稳或在地图有鲜度问题时，反而效果比INS/localization结果更差，出现跳变</a:t>
            </a:r>
            <a:endParaRPr lang="zh-CN" altLang="en-US" sz="1400" spc="-4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5639803" y="1980197"/>
            <a:ext cx="91239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 sz="1200" b="1"/>
              <a:t>GCJ02(</a:t>
            </a:r>
            <a:r>
              <a:rPr lang="zh-CN" altLang="en-US" sz="1200" b="1"/>
              <a:t>加偏</a:t>
            </a:r>
            <a:r>
              <a:rPr lang="en-US" altLang="zh-CN" sz="1200" b="1"/>
              <a:t>)</a:t>
            </a:r>
            <a:endParaRPr lang="zh-CN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87542" y="184651"/>
            <a:ext cx="10766258" cy="1054852"/>
          </a:xfrm>
        </p:spPr>
        <p:txBody>
          <a:bodyPr/>
          <a:p>
            <a:r>
              <a:rPr lang="zh-CN" altLang="en-US" sz="3600" b="1">
                <a:solidFill>
                  <a:schemeClr val="tx1"/>
                </a:solidFill>
              </a:rPr>
              <a:t>泰为惯导</a:t>
            </a:r>
            <a:r>
              <a:rPr lang="zh-CN" altLang="en-US" sz="3600" b="1"/>
              <a:t>架构</a:t>
            </a:r>
            <a:endParaRPr lang="zh-CN" altLang="en-US" sz="3600" b="1"/>
          </a:p>
        </p:txBody>
      </p:sp>
      <p:pic>
        <p:nvPicPr>
          <p:cNvPr id="5" name="图片 4" descr="upload_post_object_v2_1916519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11" y="1531018"/>
            <a:ext cx="8094245" cy="4347260"/>
          </a:xfrm>
          <a:prstGeom prst="rect">
            <a:avLst/>
          </a:prstGeom>
        </p:spPr>
      </p:pic>
      <p:sp>
        <p:nvSpPr>
          <p:cNvPr id="19" name="文本框 18"/>
          <p:cNvSpPr txBox="1"/>
          <p:nvPr userDrawn="1"/>
        </p:nvSpPr>
        <p:spPr>
          <a:xfrm>
            <a:off x="8250606" y="4073524"/>
            <a:ext cx="3669632" cy="1942432"/>
          </a:xfrm>
          <a:prstGeom prst="rect">
            <a:avLst/>
          </a:prstGeom>
          <a:ln w="25400" cmpd="sng">
            <a:solidFill>
              <a:srgbClr val="FF0000">
                <a:alpha val="100000"/>
              </a:srgbClr>
            </a:solidFill>
            <a:prstDash val="dash"/>
            <a:miter lim="800000"/>
          </a:ln>
        </p:spPr>
        <p:txBody>
          <a:bodyPr wrap="square" rtlCol="0">
            <a:noAutofit/>
          </a:bodyPr>
          <a:p>
            <a:r>
              <a:rPr lang="zh-CN" altLang="en-US" b="1"/>
              <a:t>优点：</a:t>
            </a:r>
            <a:endParaRPr lang="zh-CN" altLang="en-US" b="1"/>
          </a:p>
          <a:p>
            <a:r>
              <a:rPr lang="zh-CN" altLang="en-US" sz="1400"/>
              <a:t>量产方案，可满足道路级定位和上车时间节点</a:t>
            </a:r>
            <a:endParaRPr lang="zh-CN" altLang="en-US" sz="1400"/>
          </a:p>
          <a:p>
            <a:pPr indent="0">
              <a:buNone/>
            </a:pPr>
            <a:endParaRPr lang="zh-CN" altLang="en-US" sz="1400"/>
          </a:p>
          <a:p>
            <a:pPr indent="0">
              <a:buNone/>
            </a:pPr>
            <a:r>
              <a:rPr lang="zh-CN" altLang="en-US" b="1"/>
              <a:t>缺点：</a:t>
            </a:r>
            <a:endParaRPr lang="zh-CN" altLang="en-US" b="1"/>
          </a:p>
          <a:p>
            <a:pPr marL="285750" indent="-285750">
              <a:buChar char="•"/>
            </a:pPr>
            <a:r>
              <a:rPr lang="zh-CN" altLang="en-US" sz="1400"/>
              <a:t>黑盒交付，无法了解其内部参数和算法</a:t>
            </a:r>
            <a:endParaRPr lang="zh-CN" altLang="en-US" sz="1400"/>
          </a:p>
          <a:p>
            <a:pPr marL="285750" indent="-285750">
              <a:buChar char="•"/>
            </a:pPr>
            <a:r>
              <a:rPr lang="zh-CN" altLang="en-US" sz="1400"/>
              <a:t>无地图进行纠偏，可能存在隧道或在高架下表现不好情况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87542" y="184651"/>
            <a:ext cx="10766258" cy="1054852"/>
          </a:xfrm>
        </p:spPr>
        <p:txBody>
          <a:bodyPr/>
          <a:p>
            <a:r>
              <a:rPr lang="zh-CN" altLang="en-US" sz="3600" b="1">
                <a:solidFill>
                  <a:schemeClr val="tx1"/>
                </a:solidFill>
              </a:rPr>
              <a:t>记忆行车起功能时</a:t>
            </a:r>
            <a:r>
              <a:rPr lang="en-US" altLang="zh-CN" sz="3600" b="1">
                <a:solidFill>
                  <a:schemeClr val="tx1"/>
                </a:solidFill>
              </a:rPr>
              <a:t>EFM</a:t>
            </a:r>
            <a:r>
              <a:rPr lang="zh-CN" altLang="en-US" sz="3600" b="1">
                <a:solidFill>
                  <a:schemeClr val="tx1"/>
                </a:solidFill>
              </a:rPr>
              <a:t>使用定位方案</a:t>
            </a:r>
            <a:endParaRPr lang="zh-CN" altLang="en-US" sz="3600" b="1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250606" y="4073524"/>
            <a:ext cx="3669632" cy="1942432"/>
          </a:xfrm>
          <a:prstGeom prst="rect">
            <a:avLst/>
          </a:prstGeom>
          <a:ln w="25400" cmpd="sng">
            <a:solidFill>
              <a:srgbClr val="FF0000">
                <a:alpha val="100000"/>
              </a:srgbClr>
            </a:solidFill>
            <a:prstDash val="dash"/>
            <a:miter lim="800000"/>
          </a:ln>
        </p:spPr>
        <p:txBody>
          <a:bodyPr wrap="square" rtlCol="0">
            <a:noAutofit/>
          </a:bodyPr>
          <a:p>
            <a:r>
              <a:rPr lang="zh-CN" altLang="en-US" b="1"/>
              <a:t>优点：</a:t>
            </a:r>
            <a:endParaRPr lang="zh-CN" altLang="en-US" b="1"/>
          </a:p>
          <a:p>
            <a:pPr indent="0">
              <a:buNone/>
            </a:pPr>
            <a:r>
              <a:rPr lang="zh-CN" altLang="en-US" sz="1400"/>
              <a:t>综合</a:t>
            </a:r>
            <a:r>
              <a:rPr lang="en-US" altLang="zh-CN" sz="1400"/>
              <a:t>ins</a:t>
            </a:r>
            <a:r>
              <a:rPr lang="zh-CN" altLang="en-US" sz="1400"/>
              <a:t>+朗歌定位结果</a:t>
            </a:r>
            <a:endParaRPr lang="zh-CN" altLang="en-US" sz="1400"/>
          </a:p>
          <a:p>
            <a:pPr indent="0">
              <a:buNone/>
            </a:pPr>
            <a:endParaRPr lang="zh-CN" altLang="en-US" sz="1400"/>
          </a:p>
          <a:p>
            <a:pPr indent="0">
              <a:buNone/>
            </a:pPr>
            <a:r>
              <a:rPr lang="zh-CN" altLang="en-US" b="1"/>
              <a:t>缺点：</a:t>
            </a:r>
            <a:endParaRPr lang="zh-CN" altLang="en-US" b="1"/>
          </a:p>
          <a:p>
            <a:pPr marL="285750" indent="-285750">
              <a:buChar char="•"/>
            </a:pPr>
            <a:r>
              <a:rPr lang="zh-CN" altLang="en-US" sz="1400"/>
              <a:t>无上车经验，需要大量验证</a:t>
            </a:r>
            <a:endParaRPr lang="zh-CN" altLang="en-US" sz="1400"/>
          </a:p>
          <a:p>
            <a:pPr marL="285750" indent="-285750">
              <a:buChar char="•"/>
            </a:pPr>
            <a:r>
              <a:rPr lang="zh-CN" altLang="en-US" sz="1400"/>
              <a:t>记忆路线时，需要记录该路线是否为隧道、高架下</a:t>
            </a:r>
            <a:endParaRPr lang="zh-CN" altLang="en-US" sz="1400"/>
          </a:p>
        </p:txBody>
      </p:sp>
      <p:sp>
        <p:nvSpPr>
          <p:cNvPr id="2" name="圆角矩形 1"/>
          <p:cNvSpPr/>
          <p:nvPr userDrawn="1"/>
        </p:nvSpPr>
        <p:spPr>
          <a:xfrm>
            <a:off x="670887" y="1597091"/>
            <a:ext cx="1311267" cy="748766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INS/localization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3" name="圆角矩形 2"/>
          <p:cNvSpPr/>
          <p:nvPr userDrawn="1"/>
        </p:nvSpPr>
        <p:spPr>
          <a:xfrm>
            <a:off x="670861" y="3639117"/>
            <a:ext cx="1311267" cy="748766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1600">
                <a:solidFill>
                  <a:srgbClr val="000000"/>
                </a:solidFill>
              </a:rPr>
              <a:t>LG_API</a:t>
            </a:r>
            <a:r>
              <a:rPr lang="zh-CN" altLang="en-US" sz="1600">
                <a:solidFill>
                  <a:srgbClr val="000000"/>
                </a:solidFill>
              </a:rPr>
              <a:t>定位</a:t>
            </a:r>
            <a:endParaRPr lang="zh-CN" altLang="en-US" sz="1600">
              <a:solidFill>
                <a:srgbClr val="000000"/>
              </a:solidFill>
            </a:endParaRPr>
          </a:p>
        </p:txBody>
      </p:sp>
      <p:cxnSp>
        <p:nvCxnSpPr>
          <p:cNvPr id="7" name="肘形连接符 6"/>
          <p:cNvCxnSpPr>
            <a:stCxn id="3" idx="3"/>
            <a:endCxn id="13" idx="1"/>
          </p:cNvCxnSpPr>
          <p:nvPr userDrawn="1"/>
        </p:nvCxnSpPr>
        <p:spPr>
          <a:xfrm flipV="1">
            <a:off x="1981835" y="2957830"/>
            <a:ext cx="2932430" cy="105600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A5A5A5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 userDrawn="1"/>
        </p:nvSpPr>
        <p:spPr>
          <a:xfrm>
            <a:off x="2584251" y="1597092"/>
            <a:ext cx="1184612" cy="748765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加偏处理</a:t>
            </a:r>
            <a:endParaRPr lang="zh-CN" altLang="en-US" sz="1600">
              <a:solidFill>
                <a:srgbClr val="000000"/>
              </a:solidFill>
            </a:endParaRPr>
          </a:p>
        </p:txBody>
      </p:sp>
      <p:cxnSp>
        <p:nvCxnSpPr>
          <p:cNvPr id="10" name="直接箭头连接符 9"/>
          <p:cNvCxnSpPr>
            <a:stCxn id="2" idx="3"/>
          </p:cNvCxnSpPr>
          <p:nvPr userDrawn="1"/>
        </p:nvCxnSpPr>
        <p:spPr>
          <a:xfrm>
            <a:off x="1982154" y="1971474"/>
            <a:ext cx="561474" cy="1"/>
          </a:xfrm>
          <a:prstGeom prst="straightConnector1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9" idx="3"/>
            <a:endCxn id="13" idx="1"/>
          </p:cNvCxnSpPr>
          <p:nvPr userDrawn="1"/>
        </p:nvCxnSpPr>
        <p:spPr>
          <a:xfrm>
            <a:off x="3769360" y="1971675"/>
            <a:ext cx="1144905" cy="986155"/>
          </a:xfrm>
          <a:prstGeom prst="bentConnector3">
            <a:avLst>
              <a:gd name="adj1" fmla="val 49972"/>
            </a:avLst>
          </a:prstGeom>
          <a:ln w="19050" cap="flat" cmpd="sng" algn="ctr">
            <a:solidFill>
              <a:srgbClr val="A5A5A5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菱形 12"/>
          <p:cNvSpPr/>
          <p:nvPr userDrawn="1"/>
        </p:nvSpPr>
        <p:spPr>
          <a:xfrm>
            <a:off x="4913998" y="2275573"/>
            <a:ext cx="1432660" cy="1363579"/>
          </a:xfrm>
          <a:prstGeom prst="diamond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是否属于隧道</a:t>
            </a:r>
            <a:r>
              <a:rPr lang="en-US" altLang="zh-CN" sz="1600">
                <a:solidFill>
                  <a:srgbClr val="000000"/>
                </a:solidFill>
              </a:rPr>
              <a:t>/</a:t>
            </a:r>
            <a:r>
              <a:rPr lang="zh-CN" altLang="en-US" sz="1600">
                <a:solidFill>
                  <a:srgbClr val="000000"/>
                </a:solidFill>
              </a:rPr>
              <a:t>高架下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" name="圆角矩形 13"/>
          <p:cNvSpPr/>
          <p:nvPr userDrawn="1"/>
        </p:nvSpPr>
        <p:spPr>
          <a:xfrm>
            <a:off x="7489658" y="1764196"/>
            <a:ext cx="1311267" cy="748766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使用INS加偏进行绑路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15" name="圆角矩形 14"/>
          <p:cNvSpPr/>
          <p:nvPr userDrawn="1"/>
        </p:nvSpPr>
        <p:spPr>
          <a:xfrm>
            <a:off x="7489658" y="3164538"/>
            <a:ext cx="1311267" cy="748766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905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使用LG_API进行绑路</a:t>
            </a:r>
            <a:endParaRPr lang="zh-CN" altLang="en-US" sz="1600">
              <a:solidFill>
                <a:srgbClr val="000000"/>
              </a:solidFill>
            </a:endParaRPr>
          </a:p>
        </p:txBody>
      </p:sp>
      <p:cxnSp>
        <p:nvCxnSpPr>
          <p:cNvPr id="16" name="肘形连接符 15"/>
          <p:cNvCxnSpPr>
            <a:stCxn id="13" idx="0"/>
            <a:endCxn id="14" idx="1"/>
          </p:cNvCxnSpPr>
          <p:nvPr userDrawn="1"/>
        </p:nvCxnSpPr>
        <p:spPr>
          <a:xfrm rot="16200000">
            <a:off x="6491605" y="1277620"/>
            <a:ext cx="137160" cy="1859280"/>
          </a:xfrm>
          <a:prstGeom prst="bentConnector2">
            <a:avLst/>
          </a:prstGeom>
          <a:ln w="19050" cap="flat" cmpd="sng" algn="ctr">
            <a:solidFill>
              <a:srgbClr val="A5A5A5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13" idx="2"/>
            <a:endCxn id="15" idx="1"/>
          </p:cNvCxnSpPr>
          <p:nvPr userDrawn="1"/>
        </p:nvCxnSpPr>
        <p:spPr>
          <a:xfrm rot="5400000" flipH="1" flipV="1">
            <a:off x="6510338" y="2659698"/>
            <a:ext cx="99695" cy="1859280"/>
          </a:xfrm>
          <a:prstGeom prst="bentConnector4">
            <a:avLst>
              <a:gd name="adj1" fmla="val -513694"/>
              <a:gd name="adj2" fmla="val 69245"/>
            </a:avLst>
          </a:prstGeom>
          <a:ln w="19050" cap="flat" cmpd="sng" algn="ctr">
            <a:solidFill>
              <a:srgbClr val="A5A5A5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 userDrawn="1"/>
        </p:nvSpPr>
        <p:spPr>
          <a:xfrm>
            <a:off x="6446921" y="1779671"/>
            <a:ext cx="360680" cy="30670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162842" y="3859229"/>
            <a:ext cx="360680" cy="30670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 userDrawn="1"/>
        </p:nvSpPr>
        <p:spPr>
          <a:xfrm>
            <a:off x="925710" y="5042047"/>
            <a:ext cx="6032756" cy="1096541"/>
          </a:xfrm>
          <a:prstGeom prst="rect">
            <a:avLst/>
          </a:prstGeom>
          <a:ln w="25400" cmpd="sng">
            <a:solidFill>
              <a:srgbClr val="808080">
                <a:alpha val="100000"/>
              </a:srgbClr>
            </a:solidFill>
            <a:prstDash val="dash"/>
            <a:miter lim="800000"/>
          </a:ln>
        </p:spPr>
        <p:txBody>
          <a:bodyPr wrap="square" rtlCol="0">
            <a:noAutofit/>
          </a:bodyPr>
          <a:p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87542" y="184651"/>
            <a:ext cx="10766258" cy="1054852"/>
          </a:xfrm>
        </p:spPr>
        <p:txBody>
          <a:bodyPr/>
          <a:p>
            <a:r>
              <a:rPr lang="zh-CN" altLang="en-US" sz="3600" b="1">
                <a:solidFill>
                  <a:schemeClr val="tx1"/>
                </a:solidFill>
              </a:rPr>
              <a:t>自研惯导</a:t>
            </a:r>
            <a:r>
              <a:rPr lang="zh-CN" altLang="en-US" sz="3600" b="1"/>
              <a:t>架构</a:t>
            </a:r>
            <a:endParaRPr lang="zh-CN" altLang="en-US" sz="3600" b="1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250606" y="4073524"/>
            <a:ext cx="3669632" cy="1942432"/>
          </a:xfrm>
          <a:prstGeom prst="rect">
            <a:avLst/>
          </a:prstGeom>
          <a:ln w="25400" cmpd="sng">
            <a:solidFill>
              <a:srgbClr val="FF0000">
                <a:alpha val="100000"/>
              </a:srgbClr>
            </a:solidFill>
            <a:prstDash val="dash"/>
            <a:miter lim="800000"/>
          </a:ln>
        </p:spPr>
        <p:txBody>
          <a:bodyPr wrap="square" rtlCol="0">
            <a:noAutofit/>
          </a:bodyPr>
          <a:p>
            <a:r>
              <a:rPr lang="zh-CN" altLang="en-US" b="1"/>
              <a:t>优点：</a:t>
            </a:r>
            <a:endParaRPr lang="zh-CN" altLang="en-US" b="1"/>
          </a:p>
          <a:p>
            <a:pPr indent="0">
              <a:buNone/>
            </a:pPr>
            <a:r>
              <a:rPr lang="en-US" altLang="zh-CN" sz="1400"/>
              <a:t>base</a:t>
            </a:r>
            <a:r>
              <a:rPr lang="zh-CN" altLang="en-US" sz="1400"/>
              <a:t>方案以此研发扩展</a:t>
            </a:r>
            <a:endParaRPr lang="en-US" altLang="zh-CN" sz="1400"/>
          </a:p>
          <a:p>
            <a:pPr indent="0">
              <a:buNone/>
            </a:pPr>
            <a:endParaRPr lang="zh-CN" altLang="en-US" sz="1400"/>
          </a:p>
          <a:p>
            <a:pPr indent="0">
              <a:buNone/>
            </a:pPr>
            <a:r>
              <a:rPr lang="zh-CN" altLang="en-US" b="1"/>
              <a:t>缺点：</a:t>
            </a:r>
            <a:endParaRPr lang="zh-CN" altLang="en-US" b="1"/>
          </a:p>
          <a:p>
            <a:pPr marL="285750" indent="-285750">
              <a:buChar char="•"/>
            </a:pPr>
            <a:r>
              <a:rPr lang="zh-CN" altLang="en-US" sz="1400">
                <a:solidFill>
                  <a:schemeClr val="tx1"/>
                </a:solidFill>
              </a:rPr>
              <a:t>无经验</a:t>
            </a:r>
          </a:p>
        </p:txBody>
      </p:sp>
      <p:pic>
        <p:nvPicPr>
          <p:cNvPr id="2" name="图片 1" descr="upload_post_object_v2_764608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42" y="1155783"/>
            <a:ext cx="7599119" cy="326863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7067422" y="1155733"/>
            <a:ext cx="114681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1200" b="1"/>
              <a:t>wgs84(</a:t>
            </a:r>
            <a:r>
              <a:rPr lang="zh-CN" altLang="en-US" sz="1200" b="1"/>
              <a:t>未加偏</a:t>
            </a:r>
            <a:r>
              <a:rPr lang="en-US" altLang="zh-CN" sz="1200" b="1"/>
              <a:t>)</a:t>
            </a:r>
            <a:endParaRPr lang="zh-CN" altLang="en-US" sz="1200" b="1"/>
          </a:p>
        </p:txBody>
      </p:sp>
      <p:sp>
        <p:nvSpPr>
          <p:cNvPr id="6" name="矩形 5"/>
          <p:cNvSpPr/>
          <p:nvPr userDrawn="1"/>
        </p:nvSpPr>
        <p:spPr>
          <a:xfrm>
            <a:off x="1362878" y="5394099"/>
            <a:ext cx="1090344" cy="414479"/>
          </a:xfrm>
          <a:prstGeom prst="rect">
            <a:avLst/>
          </a:prstGeom>
          <a:solidFill>
            <a:srgbClr val="A5A5A5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轮速</a:t>
            </a:r>
            <a:r>
              <a:rPr lang="en-US" altLang="zh-CN" sz="1600">
                <a:solidFill>
                  <a:srgbClr val="000000"/>
                </a:solidFill>
              </a:rPr>
              <a:t>/</a:t>
            </a:r>
            <a:r>
              <a:rPr lang="zh-CN" altLang="en-US" sz="1600">
                <a:solidFill>
                  <a:srgbClr val="000000"/>
                </a:solidFill>
              </a:rPr>
              <a:t>档位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342782" y="5394099"/>
            <a:ext cx="1090344" cy="414479"/>
          </a:xfrm>
          <a:prstGeom prst="rect">
            <a:avLst/>
          </a:prstGeom>
          <a:solidFill>
            <a:srgbClr val="A5A5A5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视觉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322686" y="5394099"/>
            <a:ext cx="1090344" cy="414479"/>
          </a:xfrm>
          <a:prstGeom prst="rect">
            <a:avLst/>
          </a:prstGeom>
          <a:solidFill>
            <a:srgbClr val="A5A5A5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1600">
                <a:solidFill>
                  <a:srgbClr val="000000"/>
                </a:solidFill>
              </a:rPr>
              <a:t>地图</a:t>
            </a:r>
            <a:endParaRPr lang="zh-CN" altLang="en-US" sz="1600">
              <a:solidFill>
                <a:srgbClr val="000000"/>
              </a:solidFill>
            </a:endParaRPr>
          </a:p>
        </p:txBody>
      </p:sp>
      <p:cxnSp>
        <p:nvCxnSpPr>
          <p:cNvPr id="12" name="肘形连接符 11"/>
          <p:cNvCxnSpPr>
            <a:stCxn id="6" idx="0"/>
            <a:endCxn id="2" idx="2"/>
          </p:cNvCxnSpPr>
          <p:nvPr userDrawn="1"/>
        </p:nvCxnSpPr>
        <p:spPr>
          <a:xfrm rot="16200000">
            <a:off x="2662555" y="3669665"/>
            <a:ext cx="970280" cy="2479040"/>
          </a:xfrm>
          <a:prstGeom prst="bentConnector3">
            <a:avLst>
              <a:gd name="adj1" fmla="val 49935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9" idx="0"/>
            <a:endCxn id="2" idx="2"/>
          </p:cNvCxnSpPr>
          <p:nvPr userDrawn="1"/>
        </p:nvCxnSpPr>
        <p:spPr>
          <a:xfrm rot="16200000">
            <a:off x="3652520" y="4659630"/>
            <a:ext cx="970280" cy="499110"/>
          </a:xfrm>
          <a:prstGeom prst="bentConnector3">
            <a:avLst>
              <a:gd name="adj1" fmla="val 49935"/>
            </a:avLst>
          </a:prstGeom>
          <a:ln w="19050" cap="flat" cmpd="sng" algn="ctr">
            <a:solidFill>
              <a:srgbClr val="FF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10" idx="0"/>
            <a:endCxn id="2" idx="2"/>
          </p:cNvCxnSpPr>
          <p:nvPr userDrawn="1"/>
        </p:nvCxnSpPr>
        <p:spPr>
          <a:xfrm rot="16200000" flipV="1">
            <a:off x="4642485" y="4168775"/>
            <a:ext cx="970280" cy="1480820"/>
          </a:xfrm>
          <a:prstGeom prst="bentConnector3">
            <a:avLst>
              <a:gd name="adj1" fmla="val 49935"/>
            </a:avLst>
          </a:prstGeom>
          <a:ln w="19050" cap="flat" cmpd="sng" algn="ctr">
            <a:solidFill>
              <a:srgbClr val="FF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/>
        </p:nvSpPr>
        <p:spPr>
          <a:xfrm>
            <a:off x="587542" y="184651"/>
            <a:ext cx="10766258" cy="1054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>
                <a:solidFill>
                  <a:schemeClr val="tx1"/>
                </a:solidFill>
              </a:rPr>
              <a:t>相关资料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1092868" y="1478882"/>
            <a:ext cx="10337021" cy="36830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定位原理资料：</a:t>
            </a:r>
            <a:endParaRPr lang="zh-CN" altLang="en-US"/>
          </a:p>
          <a:p>
            <a:r>
              <a:rPr lang="en-US" altLang="zh-CN">
                <a:hlinkClick r:id="rId1"/>
              </a:rPr>
              <a:t>http://www.i2nav.com/index/newListDetail_zw.do?newskind_id</a:t>
            </a:r>
            <a:r>
              <a:rPr lang="zh-CN" altLang="en-US">
                <a:hlinkClick r:id="rId1"/>
              </a:rPr>
              <a:t>=</a:t>
            </a:r>
            <a:r>
              <a:rPr lang="en-US" altLang="zh-CN">
                <a:hlinkClick r:id="rId1"/>
              </a:rPr>
              <a:t>13a8654e060c40c69e5f3d4c13069078</a:t>
            </a:r>
            <a:r>
              <a:rPr lang="zh-CN" altLang="en-US">
                <a:hlinkClick r:id="rId1"/>
              </a:rPr>
              <a:t>&amp;</a:t>
            </a:r>
            <a:r>
              <a:rPr lang="en-US" altLang="zh-CN">
                <a:hlinkClick r:id="rId1"/>
              </a:rPr>
              <a:t>newsinfo_id</a:t>
            </a:r>
            <a:r>
              <a:rPr lang="zh-CN" altLang="en-US">
                <a:hlinkClick r:id="rId1"/>
              </a:rPr>
              <a:t>=</a:t>
            </a:r>
            <a:r>
              <a:rPr lang="en-US" altLang="zh-CN">
                <a:hlinkClick r:id="rId1"/>
              </a:rPr>
              <a:t>40f3c65b158742c099ba3b600c983aa1</a:t>
            </a:r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203158" y="2832434"/>
            <a:ext cx="10156658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base</a:t>
            </a:r>
            <a:r>
              <a:rPr lang="zh-CN" altLang="en-US"/>
              <a:t>版代码解析：</a:t>
            </a:r>
            <a:endParaRPr lang="zh-CN" altLang="en-US"/>
          </a:p>
          <a:p>
            <a:r>
              <a:rPr lang="en-US" altLang="zh-CN">
                <a:hlinkClick r:id="rId2"/>
              </a:rPr>
              <a:t>https://zhuanlan.zhihu.com/p/664132497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</Words>
  <Application>WPS Office WWO_feishu_20241028185521-3ecd29d096</Application>
  <PresentationFormat>宽屏</PresentationFormat>
  <Paragraphs>125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汉仪书宋二KW</vt:lpstr>
      <vt:lpstr>等线 Light</vt:lpstr>
      <vt:lpstr>汉仪中等线KW</vt:lpstr>
      <vt:lpstr>等线</vt:lpstr>
      <vt:lpstr>Office 主题​​</vt:lpstr>
      <vt:lpstr>PowerPoint 演示文稿</vt:lpstr>
      <vt:lpstr>PowerPoint 演示文稿</vt:lpstr>
      <vt:lpstr>导远定位盒架构</vt:lpstr>
      <vt:lpstr>导远定位盒架构</vt:lpstr>
      <vt:lpstr>朗歌LG_API定位架构</vt:lpstr>
      <vt:lpstr>泰为惯导架构</vt:lpstr>
      <vt:lpstr>泰为惯导架构</vt:lpstr>
      <vt:lpstr>朗歌LG_API定位架构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定位资料</dc:title>
  <dc:creator>严峻</dc:creator>
  <cp:lastModifiedBy>严峻</cp:lastModifiedBy>
  <dcterms:created xsi:type="dcterms:W3CDTF">2025-01-16T07:20:16Z</dcterms:created>
  <dcterms:modified xsi:type="dcterms:W3CDTF">2025-01-16T07:20:16Z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D2D49C1A83D925EA5F7E88676E05CFD8_42</vt:lpwstr>
  </property>
  <property fmtid="{D5CDD505-2E9C-101B-9397-08002B2CF9AE}" pid="3" name="KSOProductBuildVer">
    <vt:lpwstr>2052-0.0.0.0</vt:lpwstr>
  </property>
</Properties>
</file>